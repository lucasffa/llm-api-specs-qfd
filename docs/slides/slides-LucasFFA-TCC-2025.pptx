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13716000" cx="24384000"/>
  <p:notesSz cx="6858000" cy="9144000"/>
  <p:embeddedFontLst>
    <p:embeddedFont>
      <p:font typeface="Montserrat"/>
      <p:bold r:id="rId16"/>
      <p:boldItalic r:id="rId17"/>
    </p:embeddedFont>
    <p:embeddedFont>
      <p:font typeface="Helvetica Neue"/>
      <p:regular r:id="rId18"/>
      <p:bold r:id="rId19"/>
      <p:italic r:id="rId20"/>
      <p:boldItalic r:id="rId21"/>
    </p:embeddedFont>
    <p:embeddedFont>
      <p:font typeface="Montserrat ExtraBold"/>
      <p:bold r:id="rId22"/>
      <p:boldItalic r:id="rId23"/>
    </p:embeddedFont>
    <p:embeddedFont>
      <p:font typeface="Century Gothic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22" Type="http://schemas.openxmlformats.org/officeDocument/2006/relationships/font" Target="fonts/MontserratExtraBold-bold.fntdata"/><Relationship Id="rId21" Type="http://schemas.openxmlformats.org/officeDocument/2006/relationships/font" Target="fonts/HelveticaNeue-boldItalic.fntdata"/><Relationship Id="rId24" Type="http://schemas.openxmlformats.org/officeDocument/2006/relationships/font" Target="fonts/CenturyGothic-regular.fntdata"/><Relationship Id="rId23" Type="http://schemas.openxmlformats.org/officeDocument/2006/relationships/font" Target="fonts/MontserratExtraBold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CenturyGothic-italic.fntdata"/><Relationship Id="rId25" Type="http://schemas.openxmlformats.org/officeDocument/2006/relationships/font" Target="fonts/CenturyGothic-bold.fntdata"/><Relationship Id="rId27" Type="http://schemas.openxmlformats.org/officeDocument/2006/relationships/font" Target="fonts/CenturyGothic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bold.fntdata"/><Relationship Id="rId19" Type="http://schemas.openxmlformats.org/officeDocument/2006/relationships/font" Target="fonts/HelveticaNeue-bold.fntdata"/><Relationship Id="rId18" Type="http://schemas.openxmlformats.org/officeDocument/2006/relationships/font" Target="fonts/HelveticaNeu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9e503d889_0_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a9e503d889_0_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9e503d889_0_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a9e503d889_0_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9e503d889_0_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a9e503d889_0_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9e503d889_0_10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a9e503d889_0_1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9e503d889_0_1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a9e503d889_0_1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9e503d889_0_1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a9e503d889_0_1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9e503d889_0_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a9e503d889_0_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9e503d889_0_1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a9e503d889_0_1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9e503d889_0_1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a9e503d889_0_1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>
            <p:ph idx="2" type="pic"/>
          </p:nvPr>
        </p:nvSpPr>
        <p:spPr>
          <a:xfrm>
            <a:off x="-5333937" y="0"/>
            <a:ext cx="24383711" cy="13715838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0" y="0"/>
            <a:ext cx="13716001" cy="13716000"/>
          </a:xfrm>
          <a:prstGeom prst="rect">
            <a:avLst/>
          </a:prstGeom>
          <a:solidFill>
            <a:srgbClr val="FFFFFF">
              <a:alpha val="49803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3" type="body"/>
          </p:nvPr>
        </p:nvSpPr>
        <p:spPr>
          <a:xfrm>
            <a:off x="13716000" y="0"/>
            <a:ext cx="10668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4" type="body"/>
          </p:nvPr>
        </p:nvSpPr>
        <p:spPr>
          <a:xfrm>
            <a:off x="13716000" y="1270000"/>
            <a:ext cx="9398000" cy="11176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5" type="body"/>
          </p:nvPr>
        </p:nvSpPr>
        <p:spPr>
          <a:xfrm>
            <a:off x="22313900" y="0"/>
            <a:ext cx="2070100" cy="2070101"/>
          </a:xfrm>
          <a:prstGeom prst="rect">
            <a:avLst/>
          </a:prstGeom>
          <a:solidFill>
            <a:srgbClr val="454546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6" type="body"/>
          </p:nvPr>
        </p:nvSpPr>
        <p:spPr>
          <a:xfrm>
            <a:off x="1269999" y="628650"/>
            <a:ext cx="10922001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7" type="body"/>
          </p:nvPr>
        </p:nvSpPr>
        <p:spPr>
          <a:xfrm>
            <a:off x="12192000" y="12708653"/>
            <a:ext cx="10922000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-228600" lvl="0" marL="45720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8" type="body"/>
          </p:nvPr>
        </p:nvSpPr>
        <p:spPr>
          <a:xfrm>
            <a:off x="2868354" y="12708654"/>
            <a:ext cx="406401" cy="406401"/>
          </a:xfrm>
          <a:prstGeom prst="rect">
            <a:avLst/>
          </a:prstGeom>
          <a:solidFill>
            <a:srgbClr val="454546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9" type="body"/>
          </p:nvPr>
        </p:nvSpPr>
        <p:spPr>
          <a:xfrm>
            <a:off x="1269999" y="12708654"/>
            <a:ext cx="406401" cy="406401"/>
          </a:xfrm>
          <a:prstGeom prst="rect">
            <a:avLst/>
          </a:prstGeom>
          <a:solidFill>
            <a:srgbClr val="454546">
              <a:alpha val="24705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3" type="body"/>
          </p:nvPr>
        </p:nvSpPr>
        <p:spPr>
          <a:xfrm>
            <a:off x="2070099" y="12708654"/>
            <a:ext cx="406401" cy="406401"/>
          </a:xfrm>
          <a:prstGeom prst="rect">
            <a:avLst/>
          </a:prstGeom>
          <a:solidFill>
            <a:srgbClr val="454546">
              <a:alpha val="49803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22404644" y="831850"/>
            <a:ext cx="141871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lay">
  <p:cSld name="Overla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" type="body"/>
          </p:nvPr>
        </p:nvSpPr>
        <p:spPr>
          <a:xfrm>
            <a:off x="12192000" y="1270000"/>
            <a:ext cx="10922000" cy="11176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2" type="body"/>
          </p:nvPr>
        </p:nvSpPr>
        <p:spPr>
          <a:xfrm>
            <a:off x="22313900" y="0"/>
            <a:ext cx="2070100" cy="2070101"/>
          </a:xfrm>
          <a:prstGeom prst="rect">
            <a:avLst/>
          </a:prstGeom>
          <a:solidFill>
            <a:srgbClr val="454546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3" type="body"/>
          </p:nvPr>
        </p:nvSpPr>
        <p:spPr>
          <a:xfrm>
            <a:off x="1269999" y="628650"/>
            <a:ext cx="10922001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4" type="body"/>
          </p:nvPr>
        </p:nvSpPr>
        <p:spPr>
          <a:xfrm>
            <a:off x="2868354" y="12708654"/>
            <a:ext cx="406401" cy="406401"/>
          </a:xfrm>
          <a:prstGeom prst="rect">
            <a:avLst/>
          </a:prstGeom>
          <a:solidFill>
            <a:srgbClr val="454546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5" type="body"/>
          </p:nvPr>
        </p:nvSpPr>
        <p:spPr>
          <a:xfrm>
            <a:off x="1269999" y="12708654"/>
            <a:ext cx="406401" cy="406401"/>
          </a:xfrm>
          <a:prstGeom prst="rect">
            <a:avLst/>
          </a:prstGeom>
          <a:solidFill>
            <a:srgbClr val="454546">
              <a:alpha val="24705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6" type="body"/>
          </p:nvPr>
        </p:nvSpPr>
        <p:spPr>
          <a:xfrm>
            <a:off x="2070099" y="12708654"/>
            <a:ext cx="406401" cy="406401"/>
          </a:xfrm>
          <a:prstGeom prst="rect">
            <a:avLst/>
          </a:prstGeom>
          <a:solidFill>
            <a:srgbClr val="454546">
              <a:alpha val="49803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22404644" y="831850"/>
            <a:ext cx="141871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" name="Google Shape;29;p3"/>
          <p:cNvSpPr txBox="1"/>
          <p:nvPr>
            <p:ph idx="7" type="body"/>
          </p:nvPr>
        </p:nvSpPr>
        <p:spPr>
          <a:xfrm>
            <a:off x="12192000" y="12708653"/>
            <a:ext cx="10922000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-228600" lvl="0" marL="45720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2000"/>
              <a:buFont typeface="Montserrat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idx="1" type="body"/>
          </p:nvPr>
        </p:nvSpPr>
        <p:spPr>
          <a:xfrm>
            <a:off x="0" y="-1"/>
            <a:ext cx="24384000" cy="13716001"/>
          </a:xfrm>
          <a:prstGeom prst="rect">
            <a:avLst/>
          </a:prstGeom>
          <a:solidFill>
            <a:srgbClr val="454546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2" type="body"/>
          </p:nvPr>
        </p:nvSpPr>
        <p:spPr>
          <a:xfrm>
            <a:off x="22313900" y="0"/>
            <a:ext cx="2070100" cy="2070101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3" type="body"/>
          </p:nvPr>
        </p:nvSpPr>
        <p:spPr>
          <a:xfrm>
            <a:off x="1269999" y="628650"/>
            <a:ext cx="10922001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ontserrat"/>
              <a:buNone/>
              <a:defRPr b="1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4" type="body"/>
          </p:nvPr>
        </p:nvSpPr>
        <p:spPr>
          <a:xfrm>
            <a:off x="12192000" y="12708653"/>
            <a:ext cx="10922000" cy="4064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-228600" lvl="0" marL="45720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DFAFF"/>
              </a:buClr>
              <a:buSzPts val="2000"/>
              <a:buFont typeface="Montserrat"/>
              <a:buNone/>
              <a:defRPr b="1" sz="2000">
                <a:solidFill>
                  <a:srgbClr val="FDF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5" type="body"/>
          </p:nvPr>
        </p:nvSpPr>
        <p:spPr>
          <a:xfrm>
            <a:off x="2868354" y="12708654"/>
            <a:ext cx="406401" cy="4064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6" type="body"/>
          </p:nvPr>
        </p:nvSpPr>
        <p:spPr>
          <a:xfrm>
            <a:off x="1269999" y="12708654"/>
            <a:ext cx="406401" cy="406401"/>
          </a:xfrm>
          <a:prstGeom prst="rect">
            <a:avLst/>
          </a:prstGeom>
          <a:solidFill>
            <a:srgbClr val="FFFFFF">
              <a:alpha val="24705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7" type="body"/>
          </p:nvPr>
        </p:nvSpPr>
        <p:spPr>
          <a:xfrm>
            <a:off x="2070099" y="12708654"/>
            <a:ext cx="406401" cy="406401"/>
          </a:xfrm>
          <a:prstGeom prst="rect">
            <a:avLst/>
          </a:prstGeom>
          <a:solidFill>
            <a:srgbClr val="FFFFFF">
              <a:alpha val="49803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22404644" y="831850"/>
            <a:ext cx="141871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4000"/>
              <a:buFont typeface="Montserrat"/>
              <a:buNone/>
              <a:defRPr>
                <a:solidFill>
                  <a:srgbClr val="454546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4000"/>
              <a:buFont typeface="Montserrat"/>
              <a:buNone/>
              <a:defRPr>
                <a:solidFill>
                  <a:srgbClr val="454546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4000"/>
              <a:buFont typeface="Montserrat"/>
              <a:buNone/>
              <a:defRPr>
                <a:solidFill>
                  <a:srgbClr val="454546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4000"/>
              <a:buFont typeface="Montserrat"/>
              <a:buNone/>
              <a:defRPr>
                <a:solidFill>
                  <a:srgbClr val="454546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4000"/>
              <a:buFont typeface="Montserrat"/>
              <a:buNone/>
              <a:defRPr>
                <a:solidFill>
                  <a:srgbClr val="454546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4000"/>
              <a:buFont typeface="Montserrat"/>
              <a:buNone/>
              <a:defRPr>
                <a:solidFill>
                  <a:srgbClr val="454546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4000"/>
              <a:buFont typeface="Montserrat"/>
              <a:buNone/>
              <a:defRPr>
                <a:solidFill>
                  <a:srgbClr val="454546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4000"/>
              <a:buFont typeface="Montserrat"/>
              <a:buNone/>
              <a:defRPr>
                <a:solidFill>
                  <a:srgbClr val="454546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4000"/>
              <a:buFont typeface="Montserrat"/>
              <a:buNone/>
              <a:defRPr>
                <a:solidFill>
                  <a:srgbClr val="454546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b="1" i="0" sz="4000" u="none" cap="none" strike="noStrike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57590" y="4988207"/>
            <a:ext cx="20828001" cy="46482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9000"/>
              <a:buFont typeface="Montserrat ExtraBold"/>
              <a:buNone/>
              <a:defRPr b="0" i="0" sz="9000" u="none" cap="none" strike="noStrike">
                <a:solidFill>
                  <a:srgbClr val="45454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9000"/>
              <a:buFont typeface="Montserrat ExtraBold"/>
              <a:buNone/>
              <a:defRPr b="0" i="0" sz="9000" u="none" cap="none" strike="noStrike">
                <a:solidFill>
                  <a:srgbClr val="45454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9000"/>
              <a:buFont typeface="Montserrat ExtraBold"/>
              <a:buNone/>
              <a:defRPr b="0" i="0" sz="9000" u="none" cap="none" strike="noStrike">
                <a:solidFill>
                  <a:srgbClr val="45454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9000"/>
              <a:buFont typeface="Montserrat ExtraBold"/>
              <a:buNone/>
              <a:defRPr b="0" i="0" sz="9000" u="none" cap="none" strike="noStrike">
                <a:solidFill>
                  <a:srgbClr val="45454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9000"/>
              <a:buFont typeface="Montserrat ExtraBold"/>
              <a:buNone/>
              <a:defRPr b="0" i="0" sz="9000" u="none" cap="none" strike="noStrike">
                <a:solidFill>
                  <a:srgbClr val="45454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9000"/>
              <a:buFont typeface="Montserrat ExtraBold"/>
              <a:buNone/>
              <a:defRPr b="0" i="0" sz="9000" u="none" cap="none" strike="noStrike">
                <a:solidFill>
                  <a:srgbClr val="45454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9000"/>
              <a:buFont typeface="Montserrat ExtraBold"/>
              <a:buNone/>
              <a:defRPr b="0" i="0" sz="9000" u="none" cap="none" strike="noStrike">
                <a:solidFill>
                  <a:srgbClr val="45454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9000"/>
              <a:buFont typeface="Montserrat ExtraBold"/>
              <a:buNone/>
              <a:defRPr b="0" i="0" sz="9000" u="none" cap="none" strike="noStrike">
                <a:solidFill>
                  <a:srgbClr val="45454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9000"/>
              <a:buFont typeface="Montserrat ExtraBold"/>
              <a:buNone/>
              <a:defRPr b="0" i="0" sz="9000" u="none" cap="none" strike="noStrike">
                <a:solidFill>
                  <a:srgbClr val="45454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2500"/>
              <a:buFont typeface="Montserrat ExtraBold"/>
              <a:buNone/>
              <a:defRPr b="0" i="0" sz="2500" u="none" cap="none" strike="noStrike">
                <a:solidFill>
                  <a:srgbClr val="45454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2500"/>
              <a:buFont typeface="Montserrat ExtraBold"/>
              <a:buNone/>
              <a:defRPr b="0" i="0" sz="2500" u="none" cap="none" strike="noStrike">
                <a:solidFill>
                  <a:srgbClr val="45454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2500"/>
              <a:buFont typeface="Montserrat ExtraBold"/>
              <a:buNone/>
              <a:defRPr b="0" i="0" sz="2500" u="none" cap="none" strike="noStrike">
                <a:solidFill>
                  <a:srgbClr val="45454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2500"/>
              <a:buFont typeface="Montserrat ExtraBold"/>
              <a:buNone/>
              <a:defRPr b="0" i="0" sz="2500" u="none" cap="none" strike="noStrike">
                <a:solidFill>
                  <a:srgbClr val="45454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2500"/>
              <a:buFont typeface="Montserrat ExtraBold"/>
              <a:buNone/>
              <a:defRPr b="0" i="0" sz="2500" u="none" cap="none" strike="noStrike">
                <a:solidFill>
                  <a:srgbClr val="45454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2500"/>
              <a:buFont typeface="Montserrat ExtraBold"/>
              <a:buNone/>
              <a:defRPr b="0" i="0" sz="2500" u="none" cap="none" strike="noStrike">
                <a:solidFill>
                  <a:srgbClr val="45454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2500"/>
              <a:buFont typeface="Montserrat ExtraBold"/>
              <a:buNone/>
              <a:defRPr b="0" i="0" sz="2500" u="none" cap="none" strike="noStrike">
                <a:solidFill>
                  <a:srgbClr val="45454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indent="-228600" lvl="7" marL="3657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2500"/>
              <a:buFont typeface="Montserrat ExtraBold"/>
              <a:buNone/>
              <a:defRPr b="0" i="0" sz="2500" u="none" cap="none" strike="noStrike">
                <a:solidFill>
                  <a:srgbClr val="45454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indent="-228600" lvl="8" marL="4114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2500"/>
              <a:buFont typeface="Montserrat ExtraBold"/>
              <a:buNone/>
              <a:defRPr b="0" i="0" sz="2500" u="none" cap="none" strike="noStrike">
                <a:solidFill>
                  <a:srgbClr val="45454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857990" y="13081000"/>
            <a:ext cx="65532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i="0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i="0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i="0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i="0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i="0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i="0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i="0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i="0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  <a:defRPr b="1" i="0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5" title="api-eneficios-de-utilizar-sistemas-integrados-1280x853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9131" l="0" r="0" t="9122"/>
          <a:stretch/>
        </p:blipFill>
        <p:spPr>
          <a:xfrm>
            <a:off x="-504100" y="-168400"/>
            <a:ext cx="25487146" cy="1388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/>
          <p:nvPr/>
        </p:nvSpPr>
        <p:spPr>
          <a:xfrm>
            <a:off x="505576" y="8052618"/>
            <a:ext cx="23372700" cy="5281800"/>
          </a:xfrm>
          <a:prstGeom prst="roundRect">
            <a:avLst>
              <a:gd fmla="val 0" name="adj"/>
            </a:avLst>
          </a:prstGeom>
          <a:solidFill>
            <a:srgbClr val="00274C">
              <a:alpha val="76862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t/>
            </a:r>
            <a:endParaRPr b="0" i="0" sz="2000" u="none" cap="none" strike="noStrike">
              <a:solidFill>
                <a:srgbClr val="45454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" name="Google Shape;45;p5"/>
          <p:cNvSpPr txBox="1"/>
          <p:nvPr/>
        </p:nvSpPr>
        <p:spPr>
          <a:xfrm>
            <a:off x="2476500" y="8658240"/>
            <a:ext cx="18450300" cy="17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300"/>
              <a:buFont typeface="Century Gothic"/>
              <a:buNone/>
            </a:pPr>
            <a:r>
              <a:rPr b="1" lang="pt-BR" sz="4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ELICITAÇÃO E VALIDAÇÃO DE REQUISITOS PARA INTEGRAÇÃO COM APIs DE LARGE LANGUAGE MODELS EM SISTEMAS DE APRENDIZADO DE LÍNGUAS ESTRANGEIRAS: </a:t>
            </a:r>
            <a:r>
              <a:rPr b="1" lang="pt-BR" sz="3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Uma abordagem baseada em QFD </a:t>
            </a:r>
            <a:endParaRPr b="1" i="0" sz="3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46" name="Google Shape;46;p5"/>
          <p:cNvGrpSpPr/>
          <p:nvPr/>
        </p:nvGrpSpPr>
        <p:grpSpPr>
          <a:xfrm>
            <a:off x="1269999" y="12708654"/>
            <a:ext cx="2004757" cy="406401"/>
            <a:chOff x="0" y="0"/>
            <a:chExt cx="2004756" cy="406400"/>
          </a:xfrm>
        </p:grpSpPr>
        <p:sp>
          <p:nvSpPr>
            <p:cNvPr id="47" name="Google Shape;47;p5"/>
            <p:cNvSpPr/>
            <p:nvPr/>
          </p:nvSpPr>
          <p:spPr>
            <a:xfrm>
              <a:off x="1598355" y="0"/>
              <a:ext cx="406401" cy="406400"/>
            </a:xfrm>
            <a:prstGeom prst="rect">
              <a:avLst/>
            </a:prstGeom>
            <a:solidFill>
              <a:srgbClr val="214363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0" y="0"/>
              <a:ext cx="406400" cy="406400"/>
            </a:xfrm>
            <a:prstGeom prst="rect">
              <a:avLst/>
            </a:prstGeom>
            <a:solidFill>
              <a:srgbClr val="66C7FF">
                <a:alpha val="24705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800100" y="0"/>
              <a:ext cx="406401" cy="406400"/>
            </a:xfrm>
            <a:prstGeom prst="rect">
              <a:avLst/>
            </a:prstGeom>
            <a:solidFill>
              <a:srgbClr val="00274C">
                <a:alpha val="49803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50" name="Google Shape;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22148" y="10012241"/>
            <a:ext cx="4954376" cy="166394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5"/>
          <p:cNvSpPr txBox="1"/>
          <p:nvPr/>
        </p:nvSpPr>
        <p:spPr>
          <a:xfrm>
            <a:off x="2476500" y="10520690"/>
            <a:ext cx="18450300" cy="13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300"/>
              <a:buFont typeface="Century Gothic"/>
              <a:buNone/>
            </a:pPr>
            <a:r>
              <a:rPr b="1" lang="pt-BR"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Lucas Fernandes Ferreira de Almeida</a:t>
            </a:r>
            <a:endParaRPr b="1" sz="3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300"/>
              <a:buFont typeface="Century Gothic"/>
              <a:buNone/>
            </a:pPr>
            <a:r>
              <a:rPr b="1" lang="pt-BR"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Orientador: Prof. Herbert da Silva Costa</a:t>
            </a:r>
            <a:endParaRPr b="1" sz="3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300"/>
              <a:buFont typeface="Century Gothic"/>
              <a:buNone/>
            </a:pPr>
            <a:r>
              <a:rPr b="1" lang="pt-BR"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Bacharelado em Sistemas de Informação – UNIVALE </a:t>
            </a:r>
            <a:r>
              <a:rPr b="1" lang="pt-BR"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</a:t>
            </a:r>
            <a:r>
              <a:rPr b="1" lang="pt-BR"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Novembro de 2025 </a:t>
            </a:r>
            <a:endParaRPr b="1" sz="3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48988" y="567274"/>
            <a:ext cx="2695750" cy="90537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 txBox="1"/>
          <p:nvPr/>
        </p:nvSpPr>
        <p:spPr>
          <a:xfrm>
            <a:off x="716573" y="567273"/>
            <a:ext cx="18151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4363"/>
              </a:buClr>
              <a:buSzPts val="4000"/>
              <a:buFont typeface="Century Gothic"/>
              <a:buNone/>
            </a:pPr>
            <a:r>
              <a:rPr b="1" lang="pt-BR" sz="4000">
                <a:solidFill>
                  <a:srgbClr val="2143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 - O Problema e a Lacuna </a:t>
            </a:r>
            <a:endParaRPr b="1" i="0" sz="4000" u="none" cap="none" strike="noStrike">
              <a:solidFill>
                <a:srgbClr val="2143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58" name="Google Shape;58;p6"/>
          <p:cNvGrpSpPr/>
          <p:nvPr/>
        </p:nvGrpSpPr>
        <p:grpSpPr>
          <a:xfrm>
            <a:off x="716573" y="12959862"/>
            <a:ext cx="2004757" cy="406401"/>
            <a:chOff x="0" y="0"/>
            <a:chExt cx="2004756" cy="406400"/>
          </a:xfrm>
        </p:grpSpPr>
        <p:sp>
          <p:nvSpPr>
            <p:cNvPr id="59" name="Google Shape;59;p6"/>
            <p:cNvSpPr/>
            <p:nvPr/>
          </p:nvSpPr>
          <p:spPr>
            <a:xfrm>
              <a:off x="1598355" y="0"/>
              <a:ext cx="406401" cy="406400"/>
            </a:xfrm>
            <a:prstGeom prst="rect">
              <a:avLst/>
            </a:prstGeom>
            <a:solidFill>
              <a:srgbClr val="214363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0" y="0"/>
              <a:ext cx="406400" cy="406400"/>
            </a:xfrm>
            <a:prstGeom prst="rect">
              <a:avLst/>
            </a:prstGeom>
            <a:solidFill>
              <a:srgbClr val="00274C">
                <a:alpha val="24705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1" name="Google Shape;61;p6"/>
            <p:cNvSpPr/>
            <p:nvPr/>
          </p:nvSpPr>
          <p:spPr>
            <a:xfrm>
              <a:off x="800100" y="0"/>
              <a:ext cx="406401" cy="406400"/>
            </a:xfrm>
            <a:prstGeom prst="rect">
              <a:avLst/>
            </a:prstGeom>
            <a:solidFill>
              <a:srgbClr val="00B0F0">
                <a:alpha val="49803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cxnSp>
        <p:nvCxnSpPr>
          <p:cNvPr id="62" name="Google Shape;62;p6"/>
          <p:cNvCxnSpPr/>
          <p:nvPr/>
        </p:nvCxnSpPr>
        <p:spPr>
          <a:xfrm>
            <a:off x="716573" y="1758462"/>
            <a:ext cx="23128165" cy="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63" name="Google Shape;63;p6"/>
          <p:cNvCxnSpPr/>
          <p:nvPr/>
        </p:nvCxnSpPr>
        <p:spPr>
          <a:xfrm>
            <a:off x="3547696" y="13163062"/>
            <a:ext cx="20297042" cy="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64" name="Google Shape;64;p6"/>
          <p:cNvSpPr txBox="1"/>
          <p:nvPr/>
        </p:nvSpPr>
        <p:spPr>
          <a:xfrm>
            <a:off x="1084875" y="3259425"/>
            <a:ext cx="21872400" cy="47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LLMs revolucionam aprendizado de línguas, mas…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Lacuna crítica: 87% dos estudos não são replicáveis [Yan et al., 2024] 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Riscos em produção: Prompt injection, alucinações, vendor lock-in [Benjamin et al., 2024; Armbrust et al., 2010]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Vácuo metodológico: Falta de especificações validadas para produção [Sculley et al., 2015; Amershi et al., 2019]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OBJETIVO:  Elicitar e validar requisitos fundamentais para integração com LLM APIs no contexto educacional usando método QFD adaptado.</a:t>
            </a:r>
            <a:endParaRPr b="0" i="0" sz="3000" u="none" cap="none" strike="noStrike">
              <a:solidFill>
                <a:srgbClr val="4545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48988" y="567274"/>
            <a:ext cx="2695750" cy="90537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 txBox="1"/>
          <p:nvPr/>
        </p:nvSpPr>
        <p:spPr>
          <a:xfrm>
            <a:off x="716573" y="567273"/>
            <a:ext cx="18151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4363"/>
              </a:buClr>
              <a:buSzPts val="4000"/>
              <a:buFont typeface="Century Gothic"/>
              <a:buNone/>
            </a:pPr>
            <a:r>
              <a:rPr b="1" lang="pt-BR" sz="4000">
                <a:solidFill>
                  <a:srgbClr val="2143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REFERENCIAL TEÓRICO - Fundamentos Teóricos </a:t>
            </a:r>
            <a:endParaRPr b="1" i="0" sz="4000" u="none" cap="none" strike="noStrike">
              <a:solidFill>
                <a:srgbClr val="2143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71" name="Google Shape;71;p7"/>
          <p:cNvGrpSpPr/>
          <p:nvPr/>
        </p:nvGrpSpPr>
        <p:grpSpPr>
          <a:xfrm>
            <a:off x="716573" y="12959862"/>
            <a:ext cx="2004855" cy="406500"/>
            <a:chOff x="0" y="0"/>
            <a:chExt cx="2004855" cy="406500"/>
          </a:xfrm>
        </p:grpSpPr>
        <p:sp>
          <p:nvSpPr>
            <p:cNvPr id="72" name="Google Shape;72;p7"/>
            <p:cNvSpPr/>
            <p:nvPr/>
          </p:nvSpPr>
          <p:spPr>
            <a:xfrm>
              <a:off x="1598355" y="0"/>
              <a:ext cx="406500" cy="406500"/>
            </a:xfrm>
            <a:prstGeom prst="rect">
              <a:avLst/>
            </a:prstGeom>
            <a:solidFill>
              <a:srgbClr val="214363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3" name="Google Shape;73;p7"/>
            <p:cNvSpPr/>
            <p:nvPr/>
          </p:nvSpPr>
          <p:spPr>
            <a:xfrm>
              <a:off x="0" y="0"/>
              <a:ext cx="406500" cy="406500"/>
            </a:xfrm>
            <a:prstGeom prst="rect">
              <a:avLst/>
            </a:prstGeom>
            <a:solidFill>
              <a:srgbClr val="00274C">
                <a:alpha val="2471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4" name="Google Shape;74;p7"/>
            <p:cNvSpPr/>
            <p:nvPr/>
          </p:nvSpPr>
          <p:spPr>
            <a:xfrm>
              <a:off x="800100" y="0"/>
              <a:ext cx="406500" cy="406500"/>
            </a:xfrm>
            <a:prstGeom prst="rect">
              <a:avLst/>
            </a:prstGeom>
            <a:solidFill>
              <a:srgbClr val="00B0F0">
                <a:alpha val="4980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cxnSp>
        <p:nvCxnSpPr>
          <p:cNvPr id="75" name="Google Shape;75;p7"/>
          <p:cNvCxnSpPr/>
          <p:nvPr/>
        </p:nvCxnSpPr>
        <p:spPr>
          <a:xfrm>
            <a:off x="716573" y="1758462"/>
            <a:ext cx="23128200" cy="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76" name="Google Shape;76;p7"/>
          <p:cNvCxnSpPr/>
          <p:nvPr/>
        </p:nvCxnSpPr>
        <p:spPr>
          <a:xfrm>
            <a:off x="3547696" y="13163062"/>
            <a:ext cx="20297100" cy="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77" name="Google Shape;77;p7"/>
          <p:cNvSpPr txBox="1"/>
          <p:nvPr/>
        </p:nvSpPr>
        <p:spPr>
          <a:xfrm>
            <a:off x="1084873" y="3259434"/>
            <a:ext cx="9798900" cy="74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ENGENHARIA DE REQUISITOS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ISO/IEC/IEEE 29148: Elicitação → Validação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ISO/IEC 25010:2011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Confiabilidade e testabilidade [Sommerville, 2011; ISO, 2011]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DOMAIN-DRIVEN DESIGN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Bounded Context: "LLM Integration"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Anti-Corruption Layer para isolamento [Evans, 2003; Vernon, 2013]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8" name="Google Shape;78;p7"/>
          <p:cNvSpPr txBox="1"/>
          <p:nvPr/>
        </p:nvSpPr>
        <p:spPr>
          <a:xfrm>
            <a:off x="13138223" y="3259434"/>
            <a:ext cx="9798900" cy="88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TEST-DRIVEN DEVELOPMENT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Gherkin (Given-When-Then)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Critérios de aceitação executáveis [Beck, 2002; Hellesøy, 2009]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LLMs EM PRODUÇÃO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Não-determinismo: 15% variação de acurácia [Atil et al., 2025]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Débito técnico oculto em ML [Sculley et al., 2015]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entury Gothic"/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entury Gothic"/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48988" y="567274"/>
            <a:ext cx="2695750" cy="90537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 txBox="1"/>
          <p:nvPr/>
        </p:nvSpPr>
        <p:spPr>
          <a:xfrm>
            <a:off x="716573" y="567273"/>
            <a:ext cx="18151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4363"/>
              </a:buClr>
              <a:buSzPts val="4000"/>
              <a:buFont typeface="Century Gothic"/>
              <a:buNone/>
            </a:pPr>
            <a:r>
              <a:rPr b="1" lang="pt-BR" sz="4000">
                <a:solidFill>
                  <a:srgbClr val="2143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METODOLOGIA - Método QFD Adaptado </a:t>
            </a:r>
            <a:endParaRPr b="1" i="0" sz="4000" u="none" cap="none" strike="noStrike">
              <a:solidFill>
                <a:srgbClr val="2143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85" name="Google Shape;85;p8"/>
          <p:cNvGrpSpPr/>
          <p:nvPr/>
        </p:nvGrpSpPr>
        <p:grpSpPr>
          <a:xfrm>
            <a:off x="716573" y="12959862"/>
            <a:ext cx="2004855" cy="406500"/>
            <a:chOff x="0" y="0"/>
            <a:chExt cx="2004855" cy="406500"/>
          </a:xfrm>
        </p:grpSpPr>
        <p:sp>
          <p:nvSpPr>
            <p:cNvPr id="86" name="Google Shape;86;p8"/>
            <p:cNvSpPr/>
            <p:nvPr/>
          </p:nvSpPr>
          <p:spPr>
            <a:xfrm>
              <a:off x="1598355" y="0"/>
              <a:ext cx="406500" cy="406500"/>
            </a:xfrm>
            <a:prstGeom prst="rect">
              <a:avLst/>
            </a:prstGeom>
            <a:solidFill>
              <a:srgbClr val="214363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0" y="0"/>
              <a:ext cx="406500" cy="406500"/>
            </a:xfrm>
            <a:prstGeom prst="rect">
              <a:avLst/>
            </a:prstGeom>
            <a:solidFill>
              <a:srgbClr val="00274C">
                <a:alpha val="2471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800100" y="0"/>
              <a:ext cx="406500" cy="406500"/>
            </a:xfrm>
            <a:prstGeom prst="rect">
              <a:avLst/>
            </a:prstGeom>
            <a:solidFill>
              <a:srgbClr val="00B0F0">
                <a:alpha val="4980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cxnSp>
        <p:nvCxnSpPr>
          <p:cNvPr id="89" name="Google Shape;89;p8"/>
          <p:cNvCxnSpPr/>
          <p:nvPr/>
        </p:nvCxnSpPr>
        <p:spPr>
          <a:xfrm>
            <a:off x="716573" y="1758462"/>
            <a:ext cx="23128200" cy="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90" name="Google Shape;90;p8"/>
          <p:cNvCxnSpPr/>
          <p:nvPr/>
        </p:nvCxnSpPr>
        <p:spPr>
          <a:xfrm>
            <a:off x="3547696" y="13163062"/>
            <a:ext cx="20297100" cy="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91" name="Google Shape;91;p8"/>
          <p:cNvSpPr txBox="1"/>
          <p:nvPr/>
        </p:nvSpPr>
        <p:spPr>
          <a:xfrm>
            <a:off x="1084873" y="3259434"/>
            <a:ext cx="9798900" cy="54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PROCESSO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1. ELICITAÇÃO: Revisão literatura (22 requisitos)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2. VALIDAÇÃO QFD: Scoring 5 critérios (IAR ≥ 2.5 = Fundamental)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3. ESPECIFICAÇÃO: Gherkin + OpenAPI (Contratos testáveis)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" name="Google Shape;92;p8"/>
          <p:cNvSpPr txBox="1"/>
          <p:nvPr/>
        </p:nvSpPr>
        <p:spPr>
          <a:xfrm>
            <a:off x="13138223" y="3259434"/>
            <a:ext cx="9798900" cy="81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ÍNDICE DE ADEQUAÇÃO DO REQUISITO (IAR)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IAR = Σ(Critério_i × Peso_i) / Σ(Peso_i)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CRITÉRIOS DE VALIDAÇÃO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• Viabilidade Técnica (Peso 3, Escala 1-3)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• Testabilidade (Peso 3, Escala 1-3)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• Coesão de Domínio (Peso 2, Escala 1-3)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• Impacto na Solução (Peso 2, Escala 1-3)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• Complexidade invertida (Peso 1, Escala 1-3)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entury Gothic"/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48988" y="567274"/>
            <a:ext cx="2695750" cy="90537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9"/>
          <p:cNvSpPr txBox="1"/>
          <p:nvPr/>
        </p:nvSpPr>
        <p:spPr>
          <a:xfrm>
            <a:off x="716573" y="567273"/>
            <a:ext cx="18151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4363"/>
              </a:buClr>
              <a:buSzPts val="4000"/>
              <a:buFont typeface="Century Gothic"/>
              <a:buNone/>
            </a:pPr>
            <a:r>
              <a:rPr b="1" lang="pt-BR" sz="4000">
                <a:solidFill>
                  <a:srgbClr val="2143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PROCEDIMENTOS - Elicitação e Validação </a:t>
            </a:r>
            <a:endParaRPr b="1" i="0" sz="4000" u="none" cap="none" strike="noStrike">
              <a:solidFill>
                <a:srgbClr val="2143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99" name="Google Shape;99;p9"/>
          <p:cNvGrpSpPr/>
          <p:nvPr/>
        </p:nvGrpSpPr>
        <p:grpSpPr>
          <a:xfrm>
            <a:off x="716573" y="12959862"/>
            <a:ext cx="2004855" cy="406500"/>
            <a:chOff x="0" y="0"/>
            <a:chExt cx="2004855" cy="406500"/>
          </a:xfrm>
        </p:grpSpPr>
        <p:sp>
          <p:nvSpPr>
            <p:cNvPr id="100" name="Google Shape;100;p9"/>
            <p:cNvSpPr/>
            <p:nvPr/>
          </p:nvSpPr>
          <p:spPr>
            <a:xfrm>
              <a:off x="1598355" y="0"/>
              <a:ext cx="406500" cy="406500"/>
            </a:xfrm>
            <a:prstGeom prst="rect">
              <a:avLst/>
            </a:prstGeom>
            <a:solidFill>
              <a:srgbClr val="214363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0" y="0"/>
              <a:ext cx="406500" cy="406500"/>
            </a:xfrm>
            <a:prstGeom prst="rect">
              <a:avLst/>
            </a:prstGeom>
            <a:solidFill>
              <a:srgbClr val="00274C">
                <a:alpha val="2471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800100" y="0"/>
              <a:ext cx="406500" cy="406500"/>
            </a:xfrm>
            <a:prstGeom prst="rect">
              <a:avLst/>
            </a:prstGeom>
            <a:solidFill>
              <a:srgbClr val="00B0F0">
                <a:alpha val="4980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cxnSp>
        <p:nvCxnSpPr>
          <p:cNvPr id="103" name="Google Shape;103;p9"/>
          <p:cNvCxnSpPr/>
          <p:nvPr/>
        </p:nvCxnSpPr>
        <p:spPr>
          <a:xfrm>
            <a:off x="716573" y="1758462"/>
            <a:ext cx="23128200" cy="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04" name="Google Shape;104;p9"/>
          <p:cNvCxnSpPr/>
          <p:nvPr/>
        </p:nvCxnSpPr>
        <p:spPr>
          <a:xfrm>
            <a:off x="3547696" y="13163062"/>
            <a:ext cx="20297100" cy="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05" name="Google Shape;105;p9"/>
          <p:cNvSpPr txBox="1"/>
          <p:nvPr/>
        </p:nvSpPr>
        <p:spPr>
          <a:xfrm>
            <a:off x="1084873" y="3259434"/>
            <a:ext cx="9798900" cy="54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22 REQUISITOS CANDIDATOS EM 6 CATEGORIAS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Resiliência (5)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Otimização (3)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Governança (2)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Qualidade (5)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Segurança (1)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Observabilidade (6)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p9"/>
          <p:cNvSpPr txBox="1"/>
          <p:nvPr/>
        </p:nvSpPr>
        <p:spPr>
          <a:xfrm>
            <a:off x="13138223" y="3259434"/>
            <a:ext cx="9798900" cy="95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4 REQUISITOS FUNDAMENTAIS (IAR ≥ 2.5)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AutoNum type="arabicPeriod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RC-003: </a:t>
            </a: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Circuit Breaker</a:t>
            </a: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 (IAR = 2.91) [Newman, 2021; Fowler, 2009, 2012]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AutoNum type="arabicPeriod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RC-004: </a:t>
            </a: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Cadeia de Fallback </a:t>
            </a: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(IAR = 2.91) [Newman, 2021; Fowler, 2009, 2012]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AutoNum type="arabicPeriod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RC-014: </a:t>
            </a: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Engenharia de Prompt Iterativa </a:t>
            </a: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(IAR = 2.91) [Freeman &amp; Pryce, 2009; Huyen, 2023]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AutoNum type="arabicPeriod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RC-016: </a:t>
            </a: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Filtros de Moderação</a:t>
            </a: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 (IAR = 2.91) [OWASP, 2025; Benjamin et al., 2024; Ji et al., 2023]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entury Gothic"/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RESULTADO: 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entury Gothic"/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4 Fundamentais | 13 Importantes | 5 Descartados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48988" y="567274"/>
            <a:ext cx="2695750" cy="90537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0"/>
          <p:cNvSpPr txBox="1"/>
          <p:nvPr/>
        </p:nvSpPr>
        <p:spPr>
          <a:xfrm>
            <a:off x="716573" y="567273"/>
            <a:ext cx="18151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4363"/>
              </a:buClr>
              <a:buSzPts val="4000"/>
              <a:buFont typeface="Century Gothic"/>
              <a:buNone/>
            </a:pPr>
            <a:r>
              <a:rPr b="1" lang="pt-BR" sz="4000">
                <a:solidFill>
                  <a:srgbClr val="2143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DISCUSSÃO (Parte 1) - Padrões Priorizados </a:t>
            </a:r>
            <a:endParaRPr b="1" i="0" sz="4000" u="none" cap="none" strike="noStrike">
              <a:solidFill>
                <a:srgbClr val="2143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13" name="Google Shape;113;p10"/>
          <p:cNvGrpSpPr/>
          <p:nvPr/>
        </p:nvGrpSpPr>
        <p:grpSpPr>
          <a:xfrm>
            <a:off x="716573" y="12959862"/>
            <a:ext cx="2004855" cy="406500"/>
            <a:chOff x="0" y="0"/>
            <a:chExt cx="2004855" cy="406500"/>
          </a:xfrm>
        </p:grpSpPr>
        <p:sp>
          <p:nvSpPr>
            <p:cNvPr id="114" name="Google Shape;114;p10"/>
            <p:cNvSpPr/>
            <p:nvPr/>
          </p:nvSpPr>
          <p:spPr>
            <a:xfrm>
              <a:off x="1598355" y="0"/>
              <a:ext cx="406500" cy="406500"/>
            </a:xfrm>
            <a:prstGeom prst="rect">
              <a:avLst/>
            </a:prstGeom>
            <a:solidFill>
              <a:srgbClr val="214363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5" name="Google Shape;115;p10"/>
            <p:cNvSpPr/>
            <p:nvPr/>
          </p:nvSpPr>
          <p:spPr>
            <a:xfrm>
              <a:off x="0" y="0"/>
              <a:ext cx="406500" cy="406500"/>
            </a:xfrm>
            <a:prstGeom prst="rect">
              <a:avLst/>
            </a:prstGeom>
            <a:solidFill>
              <a:srgbClr val="00274C">
                <a:alpha val="2471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6" name="Google Shape;116;p10"/>
            <p:cNvSpPr/>
            <p:nvPr/>
          </p:nvSpPr>
          <p:spPr>
            <a:xfrm>
              <a:off x="800100" y="0"/>
              <a:ext cx="406500" cy="406500"/>
            </a:xfrm>
            <a:prstGeom prst="rect">
              <a:avLst/>
            </a:prstGeom>
            <a:solidFill>
              <a:srgbClr val="00B0F0">
                <a:alpha val="4980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cxnSp>
        <p:nvCxnSpPr>
          <p:cNvPr id="117" name="Google Shape;117;p10"/>
          <p:cNvCxnSpPr/>
          <p:nvPr/>
        </p:nvCxnSpPr>
        <p:spPr>
          <a:xfrm>
            <a:off x="716573" y="1758462"/>
            <a:ext cx="23128200" cy="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18" name="Google Shape;118;p10"/>
          <p:cNvCxnSpPr/>
          <p:nvPr/>
        </p:nvCxnSpPr>
        <p:spPr>
          <a:xfrm>
            <a:off x="3547696" y="13163062"/>
            <a:ext cx="20297100" cy="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19" name="Google Shape;119;p10"/>
          <p:cNvSpPr txBox="1"/>
          <p:nvPr/>
        </p:nvSpPr>
        <p:spPr>
          <a:xfrm>
            <a:off x="1084873" y="3259434"/>
            <a:ext cx="9798900" cy="81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POR QUE ESSES 4 REQUISITOS?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CONVERGÊNCIA METODOLÓGICA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Todos com score 3/3 em Viabilidade e Testabilidade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Padrões estabelecidos aplicados a contexto LLM: circuit breaker para resiliência [Nygard, 2007; Newman, 2021], iteração de prompts como design [Freeman &amp; Pryce, 2009] e técnica otimizadora [Huyen, 2023].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p10"/>
          <p:cNvSpPr txBox="1"/>
          <p:nvPr/>
        </p:nvSpPr>
        <p:spPr>
          <a:xfrm>
            <a:off x="13138223" y="3259434"/>
            <a:ext cx="9798900" cy="109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TRADE-OFFS IDENTIFICADOS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Resiliência vs. Custo: Fallback aumenta complexidade, mas garante disponibilidade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Cache Semântico: Complexidade inicial alta, mas 90% economia [Anthropic, 2025]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Observabilidade Avançada: Descartada (RC-018-022) por over-engineering em MVP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LIMITAÇÕES DO QFD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Subjetividade nos scores (ausência de múltiplos avaliadores)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Limiar IAR ≥ 2.5 arbitrário (mas justificado)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Não captura dependências entre requisitos [Linstone &amp; Turoff, 1975]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entury Gothic"/>
              <a:buNone/>
            </a:pPr>
            <a:r>
              <a:t/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48988" y="567274"/>
            <a:ext cx="2695750" cy="90537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/>
          <p:nvPr/>
        </p:nvSpPr>
        <p:spPr>
          <a:xfrm>
            <a:off x="716573" y="567273"/>
            <a:ext cx="18151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4363"/>
              </a:buClr>
              <a:buSzPts val="4000"/>
              <a:buFont typeface="Century Gothic"/>
              <a:buNone/>
            </a:pPr>
            <a:r>
              <a:rPr b="1" lang="pt-BR" sz="4000">
                <a:solidFill>
                  <a:srgbClr val="2143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DISCUSSÃO (Parte 2) - Bounded Context &amp; ACL </a:t>
            </a:r>
            <a:endParaRPr b="1" i="0" sz="4000" u="none" cap="none" strike="noStrike">
              <a:solidFill>
                <a:srgbClr val="2143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27" name="Google Shape;127;p11"/>
          <p:cNvGrpSpPr/>
          <p:nvPr/>
        </p:nvGrpSpPr>
        <p:grpSpPr>
          <a:xfrm>
            <a:off x="716573" y="12959862"/>
            <a:ext cx="2004855" cy="406500"/>
            <a:chOff x="0" y="0"/>
            <a:chExt cx="2004855" cy="406500"/>
          </a:xfrm>
        </p:grpSpPr>
        <p:sp>
          <p:nvSpPr>
            <p:cNvPr id="128" name="Google Shape;128;p11"/>
            <p:cNvSpPr/>
            <p:nvPr/>
          </p:nvSpPr>
          <p:spPr>
            <a:xfrm>
              <a:off x="1598355" y="0"/>
              <a:ext cx="406500" cy="406500"/>
            </a:xfrm>
            <a:prstGeom prst="rect">
              <a:avLst/>
            </a:prstGeom>
            <a:solidFill>
              <a:srgbClr val="214363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9" name="Google Shape;129;p11"/>
            <p:cNvSpPr/>
            <p:nvPr/>
          </p:nvSpPr>
          <p:spPr>
            <a:xfrm>
              <a:off x="0" y="0"/>
              <a:ext cx="406500" cy="406500"/>
            </a:xfrm>
            <a:prstGeom prst="rect">
              <a:avLst/>
            </a:prstGeom>
            <a:solidFill>
              <a:srgbClr val="00274C">
                <a:alpha val="2471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0" name="Google Shape;130;p11"/>
            <p:cNvSpPr/>
            <p:nvPr/>
          </p:nvSpPr>
          <p:spPr>
            <a:xfrm>
              <a:off x="800100" y="0"/>
              <a:ext cx="406500" cy="406500"/>
            </a:xfrm>
            <a:prstGeom prst="rect">
              <a:avLst/>
            </a:prstGeom>
            <a:solidFill>
              <a:srgbClr val="00B0F0">
                <a:alpha val="4980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cxnSp>
        <p:nvCxnSpPr>
          <p:cNvPr id="131" name="Google Shape;131;p11"/>
          <p:cNvCxnSpPr/>
          <p:nvPr/>
        </p:nvCxnSpPr>
        <p:spPr>
          <a:xfrm>
            <a:off x="716573" y="1758462"/>
            <a:ext cx="23128200" cy="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32" name="Google Shape;132;p11"/>
          <p:cNvCxnSpPr/>
          <p:nvPr/>
        </p:nvCxnSpPr>
        <p:spPr>
          <a:xfrm>
            <a:off x="3547696" y="13163062"/>
            <a:ext cx="20297100" cy="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33" name="Google Shape;133;p11"/>
          <p:cNvSpPr txBox="1"/>
          <p:nvPr/>
        </p:nvSpPr>
        <p:spPr>
          <a:xfrm>
            <a:off x="1084873" y="3259434"/>
            <a:ext cx="9798900" cy="54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entury Gothic"/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COM BASE NA LITERATURA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entury Gothic"/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entury Gothic"/>
              <a:buNone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[Vernon, 2013] caracteriza o Anti-Corruption Layer (ACL) como uma fronteira não apenas técnica, mas também semântica, na qual a Linguagem Ubíqua do contexto interno é mantida mesmo quando há interação com terminologias e estruturas externas distintas.</a:t>
            </a:r>
            <a:endParaRPr b="0" i="0" sz="3000" u="none" cap="none" strike="noStrike">
              <a:solidFill>
                <a:srgbClr val="45454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4" name="Google Shape;134;p11"/>
          <p:cNvPicPr preferRelativeResize="0"/>
          <p:nvPr/>
        </p:nvPicPr>
        <p:blipFill rotWithShape="1">
          <a:blip r:embed="rId4">
            <a:alphaModFix/>
          </a:blip>
          <a:srcRect b="11421" l="0" r="0" t="5515"/>
          <a:stretch/>
        </p:blipFill>
        <p:spPr>
          <a:xfrm>
            <a:off x="11961324" y="4500024"/>
            <a:ext cx="11281575" cy="43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1"/>
          <p:cNvSpPr txBox="1"/>
          <p:nvPr/>
        </p:nvSpPr>
        <p:spPr>
          <a:xfrm>
            <a:off x="12770350" y="10042500"/>
            <a:ext cx="9798900" cy="14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00">
                <a:latin typeface="Century Gothic"/>
                <a:ea typeface="Century Gothic"/>
                <a:cs typeface="Century Gothic"/>
                <a:sym typeface="Century Gothic"/>
              </a:rPr>
              <a:t>Figura 3. A Linguagem Ubíqua como intersecção entre dois conjuntos. Fonte: Adaptado de Valente [s.d.] </a:t>
            </a:r>
            <a:endParaRPr b="1" sz="2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48988" y="567274"/>
            <a:ext cx="2695750" cy="90537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2"/>
          <p:cNvSpPr txBox="1"/>
          <p:nvPr/>
        </p:nvSpPr>
        <p:spPr>
          <a:xfrm>
            <a:off x="716573" y="567273"/>
            <a:ext cx="18151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4363"/>
              </a:buClr>
              <a:buSzPts val="4000"/>
              <a:buFont typeface="Century Gothic"/>
              <a:buNone/>
            </a:pPr>
            <a:r>
              <a:rPr b="1" lang="pt-BR" sz="4000">
                <a:solidFill>
                  <a:srgbClr val="2143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DISCUSSÃO (Parte 3) - Bounded Context &amp; ACL </a:t>
            </a:r>
            <a:endParaRPr b="1" i="0" sz="4000" u="none" cap="none" strike="noStrike">
              <a:solidFill>
                <a:srgbClr val="2143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42" name="Google Shape;142;p12"/>
          <p:cNvGrpSpPr/>
          <p:nvPr/>
        </p:nvGrpSpPr>
        <p:grpSpPr>
          <a:xfrm>
            <a:off x="716573" y="12959862"/>
            <a:ext cx="2004855" cy="406500"/>
            <a:chOff x="0" y="0"/>
            <a:chExt cx="2004855" cy="406500"/>
          </a:xfrm>
        </p:grpSpPr>
        <p:sp>
          <p:nvSpPr>
            <p:cNvPr id="143" name="Google Shape;143;p12"/>
            <p:cNvSpPr/>
            <p:nvPr/>
          </p:nvSpPr>
          <p:spPr>
            <a:xfrm>
              <a:off x="1598355" y="0"/>
              <a:ext cx="406500" cy="406500"/>
            </a:xfrm>
            <a:prstGeom prst="rect">
              <a:avLst/>
            </a:prstGeom>
            <a:solidFill>
              <a:srgbClr val="214363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" name="Google Shape;144;p12"/>
            <p:cNvSpPr/>
            <p:nvPr/>
          </p:nvSpPr>
          <p:spPr>
            <a:xfrm>
              <a:off x="0" y="0"/>
              <a:ext cx="406500" cy="406500"/>
            </a:xfrm>
            <a:prstGeom prst="rect">
              <a:avLst/>
            </a:prstGeom>
            <a:solidFill>
              <a:srgbClr val="00274C">
                <a:alpha val="2471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5" name="Google Shape;145;p12"/>
            <p:cNvSpPr/>
            <p:nvPr/>
          </p:nvSpPr>
          <p:spPr>
            <a:xfrm>
              <a:off x="800100" y="0"/>
              <a:ext cx="406500" cy="406500"/>
            </a:xfrm>
            <a:prstGeom prst="rect">
              <a:avLst/>
            </a:prstGeom>
            <a:solidFill>
              <a:srgbClr val="00B0F0">
                <a:alpha val="4980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cxnSp>
        <p:nvCxnSpPr>
          <p:cNvPr id="146" name="Google Shape;146;p12"/>
          <p:cNvCxnSpPr/>
          <p:nvPr/>
        </p:nvCxnSpPr>
        <p:spPr>
          <a:xfrm>
            <a:off x="716573" y="1758462"/>
            <a:ext cx="23128200" cy="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47" name="Google Shape;147;p12"/>
          <p:cNvCxnSpPr/>
          <p:nvPr/>
        </p:nvCxnSpPr>
        <p:spPr>
          <a:xfrm>
            <a:off x="3547696" y="13163062"/>
            <a:ext cx="20297100" cy="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48" name="Google Shape;148;p12"/>
          <p:cNvSpPr txBox="1"/>
          <p:nvPr/>
        </p:nvSpPr>
        <p:spPr>
          <a:xfrm>
            <a:off x="1084873" y="3259434"/>
            <a:ext cx="9798900" cy="95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BOUNDED CONTEXT "LLM INTEGRATION"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DOMÍNIO PEDAGÓGICO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[Experiência de Aprendizado]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          </a:t>
            </a: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|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          </a:t>
            </a: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|</a:t>
            </a: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 Anti-Corruption Layer (Isolamento, Filtro)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          </a:t>
            </a: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v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DOMÍNIO DE INTEGRAÇÃO DE LLMs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Multi-Provider Strategy (</a:t>
            </a: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OpenAI | Google)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Circuit Breaker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Fallback Chain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Semantic Cache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Filtro de Moderação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Engenharia de Prompt dinâmica &amp; iterativa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p12"/>
          <p:cNvSpPr txBox="1"/>
          <p:nvPr/>
        </p:nvSpPr>
        <p:spPr>
          <a:xfrm>
            <a:off x="13138223" y="3259434"/>
            <a:ext cx="9798900" cy="6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JUSTIFICATIVAS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Coesão funcional</a:t>
            </a: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: Lógica de roteamento/custos = subdomínio válido [Evans, 2003]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Autonomia</a:t>
            </a: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: APIs LLM evoluem em ritmo diferente do pedagógico [Vernon, 2013]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Testabilidade</a:t>
            </a: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: Isolamento permite mocks/fakes [Meszaros, 2007]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entury Gothic"/>
              <a:buNone/>
            </a:pPr>
            <a:r>
              <a:t/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48988" y="567274"/>
            <a:ext cx="2695750" cy="90537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3"/>
          <p:cNvSpPr txBox="1"/>
          <p:nvPr/>
        </p:nvSpPr>
        <p:spPr>
          <a:xfrm>
            <a:off x="716573" y="567273"/>
            <a:ext cx="18151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4363"/>
              </a:buClr>
              <a:buSzPts val="4000"/>
              <a:buFont typeface="Century Gothic"/>
              <a:buNone/>
            </a:pPr>
            <a:r>
              <a:rPr b="1" lang="pt-BR" sz="4000">
                <a:solidFill>
                  <a:srgbClr val="2143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CONCLUSÃO - Contribuições e Trabalhos Futuros </a:t>
            </a:r>
            <a:endParaRPr b="1" i="0" sz="4000" u="none" cap="none" strike="noStrike">
              <a:solidFill>
                <a:srgbClr val="2143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56" name="Google Shape;156;p13"/>
          <p:cNvGrpSpPr/>
          <p:nvPr/>
        </p:nvGrpSpPr>
        <p:grpSpPr>
          <a:xfrm>
            <a:off x="716573" y="12959862"/>
            <a:ext cx="2004855" cy="406500"/>
            <a:chOff x="0" y="0"/>
            <a:chExt cx="2004855" cy="406500"/>
          </a:xfrm>
        </p:grpSpPr>
        <p:sp>
          <p:nvSpPr>
            <p:cNvPr id="157" name="Google Shape;157;p13"/>
            <p:cNvSpPr/>
            <p:nvPr/>
          </p:nvSpPr>
          <p:spPr>
            <a:xfrm>
              <a:off x="1598355" y="0"/>
              <a:ext cx="406500" cy="406500"/>
            </a:xfrm>
            <a:prstGeom prst="rect">
              <a:avLst/>
            </a:prstGeom>
            <a:solidFill>
              <a:srgbClr val="214363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0" y="0"/>
              <a:ext cx="406500" cy="406500"/>
            </a:xfrm>
            <a:prstGeom prst="rect">
              <a:avLst/>
            </a:prstGeom>
            <a:solidFill>
              <a:srgbClr val="00274C">
                <a:alpha val="2471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800100" y="0"/>
              <a:ext cx="406500" cy="406500"/>
            </a:xfrm>
            <a:prstGeom prst="rect">
              <a:avLst/>
            </a:prstGeom>
            <a:solidFill>
              <a:srgbClr val="00B0F0">
                <a:alpha val="4980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cxnSp>
        <p:nvCxnSpPr>
          <p:cNvPr id="160" name="Google Shape;160;p13"/>
          <p:cNvCxnSpPr/>
          <p:nvPr/>
        </p:nvCxnSpPr>
        <p:spPr>
          <a:xfrm>
            <a:off x="716573" y="1758462"/>
            <a:ext cx="23128200" cy="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61" name="Google Shape;161;p13"/>
          <p:cNvCxnSpPr/>
          <p:nvPr/>
        </p:nvCxnSpPr>
        <p:spPr>
          <a:xfrm>
            <a:off x="3547696" y="13163062"/>
            <a:ext cx="20297100" cy="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62" name="Google Shape;162;p13"/>
          <p:cNvSpPr txBox="1"/>
          <p:nvPr/>
        </p:nvSpPr>
        <p:spPr>
          <a:xfrm>
            <a:off x="1084873" y="3259434"/>
            <a:ext cx="9798900" cy="102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CONTRIBUIÇÕES PRINCIPAIS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AutoNum type="arabicPeriod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Framework QFD Replicável: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Método adaptado para sistemas não-determinísticos [Akao, 1990]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AutoNum type="arabicPeriod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Especificações Production-Ready: 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Critérios Gherkin + Contratos OpenAPI [Hellesøy, 2009; OpenAPI Initiative, 2021]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AutoNum type="arabicPeriod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Arquitetura de Referência: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Bounded Context "LLM Integration" com ACL [Evans, 2003; Vernon, 2013]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3" name="Google Shape;163;p13"/>
          <p:cNvSpPr txBox="1"/>
          <p:nvPr/>
        </p:nvSpPr>
        <p:spPr>
          <a:xfrm>
            <a:off x="13138223" y="3259434"/>
            <a:ext cx="9798900" cy="74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TRABALHOS FUTUROS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Validação empírica com stakeholders (educadores, estudantes, desenvolvedores)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Estudos de caso com implementação em produção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Refinamento iterativo com feedback de sistemas reais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●"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Expansão para outros domínios além de educação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entury Gothic"/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48988" y="567274"/>
            <a:ext cx="2695750" cy="90537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4"/>
          <p:cNvSpPr txBox="1"/>
          <p:nvPr/>
        </p:nvSpPr>
        <p:spPr>
          <a:xfrm>
            <a:off x="716573" y="567273"/>
            <a:ext cx="18151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4363"/>
              </a:buClr>
              <a:buSzPts val="4000"/>
              <a:buFont typeface="Century Gothic"/>
              <a:buNone/>
            </a:pPr>
            <a:r>
              <a:rPr b="1" lang="pt-BR" sz="4000">
                <a:solidFill>
                  <a:srgbClr val="2143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REFERÊNCIAS</a:t>
            </a:r>
            <a:endParaRPr b="1" i="0" sz="4000" u="none" cap="none" strike="noStrike">
              <a:solidFill>
                <a:srgbClr val="2143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70" name="Google Shape;170;p14"/>
          <p:cNvGrpSpPr/>
          <p:nvPr/>
        </p:nvGrpSpPr>
        <p:grpSpPr>
          <a:xfrm>
            <a:off x="716573" y="12959862"/>
            <a:ext cx="2004855" cy="406500"/>
            <a:chOff x="0" y="0"/>
            <a:chExt cx="2004855" cy="406500"/>
          </a:xfrm>
        </p:grpSpPr>
        <p:sp>
          <p:nvSpPr>
            <p:cNvPr id="171" name="Google Shape;171;p14"/>
            <p:cNvSpPr/>
            <p:nvPr/>
          </p:nvSpPr>
          <p:spPr>
            <a:xfrm>
              <a:off x="1598355" y="0"/>
              <a:ext cx="406500" cy="406500"/>
            </a:xfrm>
            <a:prstGeom prst="rect">
              <a:avLst/>
            </a:prstGeom>
            <a:solidFill>
              <a:srgbClr val="214363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0" y="0"/>
              <a:ext cx="406500" cy="406500"/>
            </a:xfrm>
            <a:prstGeom prst="rect">
              <a:avLst/>
            </a:prstGeom>
            <a:solidFill>
              <a:srgbClr val="00274C">
                <a:alpha val="2471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00100" y="0"/>
              <a:ext cx="406500" cy="406500"/>
            </a:xfrm>
            <a:prstGeom prst="rect">
              <a:avLst/>
            </a:prstGeom>
            <a:solidFill>
              <a:srgbClr val="00B0F0">
                <a:alpha val="4980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cxnSp>
        <p:nvCxnSpPr>
          <p:cNvPr id="174" name="Google Shape;174;p14"/>
          <p:cNvCxnSpPr/>
          <p:nvPr/>
        </p:nvCxnSpPr>
        <p:spPr>
          <a:xfrm>
            <a:off x="716573" y="1758462"/>
            <a:ext cx="23128200" cy="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75" name="Google Shape;175;p14"/>
          <p:cNvCxnSpPr/>
          <p:nvPr/>
        </p:nvCxnSpPr>
        <p:spPr>
          <a:xfrm>
            <a:off x="3547696" y="13163062"/>
            <a:ext cx="20297100" cy="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76" name="Google Shape;176;p14"/>
          <p:cNvSpPr txBox="1"/>
          <p:nvPr/>
        </p:nvSpPr>
        <p:spPr>
          <a:xfrm>
            <a:off x="1084875" y="3259425"/>
            <a:ext cx="21872400" cy="88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Century Gothic"/>
                <a:ea typeface="Century Gothic"/>
                <a:cs typeface="Century Gothic"/>
                <a:sym typeface="Century Gothic"/>
              </a:rPr>
              <a:t>[Aggarwal, 1999]; [Akao, 1990]; [Akao, 1994]; [Alhawiti, 2014]; [Amershi, 2019]; [Anthropic, 2025]; [Anthropic, 2025]; [Anthropic, 2025]; [Artia, 2024]; [Atil, 2024]; [Baltes, 2025]; [Beck, 2003]; [Benjamin, 2025]; [Bian, 2025]; [Binder, 2000]; [Chan, 2002]; [Chen, 2023]; [Clausing, 1991]; [Cohen, 1995]; [DataCamp, 2025]; [Feathers, 2004]; [Fowler, 2014]; [Fowler, 2011]; [Freeman, 2009]; [Gibney, 2024]; [Global App Testing, 2024]; [Google AI, 2025]; [Google AI, 2025]; [Google AI, 2025]; [Huyen, 2023]; [Haag, 1996]; [Hauser, 1988]; [He, 2025]; [Holshausen, 2014]; [Hu, 2025]; [Kapoor, 2023]; [Kapoor, 2024]; [Lami, 2011]; [Label Studio, 2025]; [Label Studio, 2025]; [Langfuse, 2025]; [Langfuse, 2025]; [Linstone, 1975]; [Maierhöfer, 2025]; [Martin, 2008]; [Meszaros, 2007]; [Meyer, 1997]; [National Cyber Security Centre, 2025]; [Newman, 2021]; [Nguyen, 2025]; [Nuseibeh, 2001]; [OpenAI, 2025]; [OWASP, 2025]; [Pressman, 2001]; [Robinson, 2006]; [Sculley, 2015]; [Sommerville, 2011]; [Sonda, 2000]; [Thinking Machines Lab, 2025]; [Ujihara, 2006]; [Valente, s.d.]; [Vernon, 2013]; [Vieira, 2024]; [Yan, 2024]; [Yan, 2024]; [Yan, 2023]; [Yuan, 2025]; [ZenML, 2024]; [ZenML, 2025]; [Zultner, 1993]. 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latin typeface="Century Gothic"/>
                <a:ea typeface="Century Gothic"/>
                <a:cs typeface="Century Gothic"/>
                <a:sym typeface="Century Gothic"/>
              </a:rPr>
              <a:t>Contagem total de referências do artigo: 70</a:t>
            </a:r>
            <a:endParaRPr b="1" sz="3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5" title="MicrosoftTeams-image-67.jpg"/>
          <p:cNvPicPr preferRelativeResize="0"/>
          <p:nvPr/>
        </p:nvPicPr>
        <p:blipFill rotWithShape="1">
          <a:blip r:embed="rId3">
            <a:alphaModFix/>
          </a:blip>
          <a:srcRect b="17367" l="0" r="0" t="17367"/>
          <a:stretch/>
        </p:blipFill>
        <p:spPr>
          <a:xfrm>
            <a:off x="0" y="-3876"/>
            <a:ext cx="24384000" cy="1061516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5"/>
          <p:cNvSpPr/>
          <p:nvPr/>
        </p:nvSpPr>
        <p:spPr>
          <a:xfrm>
            <a:off x="0" y="7850490"/>
            <a:ext cx="24384000" cy="7199100"/>
          </a:xfrm>
          <a:prstGeom prst="rect">
            <a:avLst/>
          </a:prstGeom>
          <a:solidFill>
            <a:srgbClr val="214363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546"/>
              </a:buClr>
              <a:buSzPts val="3200"/>
              <a:buFont typeface="Montserrat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3" name="Google Shape;18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95309" y="10823084"/>
            <a:ext cx="6004455" cy="201661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5"/>
          <p:cNvSpPr txBox="1"/>
          <p:nvPr/>
        </p:nvSpPr>
        <p:spPr>
          <a:xfrm>
            <a:off x="1602918" y="10399500"/>
            <a:ext cx="181518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entury Gothic"/>
              <a:buNone/>
            </a:pPr>
            <a:r>
              <a:rPr b="1" lang="pt-BR" sz="8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OBRIGADO</a:t>
            </a:r>
            <a:endParaRPr/>
          </a:p>
        </p:txBody>
      </p:sp>
      <p:grpSp>
        <p:nvGrpSpPr>
          <p:cNvPr id="185" name="Google Shape;185;p15"/>
          <p:cNvGrpSpPr/>
          <p:nvPr/>
        </p:nvGrpSpPr>
        <p:grpSpPr>
          <a:xfrm>
            <a:off x="1312551" y="558754"/>
            <a:ext cx="2004855" cy="406500"/>
            <a:chOff x="0" y="0"/>
            <a:chExt cx="2004855" cy="406500"/>
          </a:xfrm>
        </p:grpSpPr>
        <p:sp>
          <p:nvSpPr>
            <p:cNvPr id="186" name="Google Shape;186;p15"/>
            <p:cNvSpPr/>
            <p:nvPr/>
          </p:nvSpPr>
          <p:spPr>
            <a:xfrm>
              <a:off x="1598355" y="0"/>
              <a:ext cx="406500" cy="406500"/>
            </a:xfrm>
            <a:prstGeom prst="rect">
              <a:avLst/>
            </a:prstGeom>
            <a:solidFill>
              <a:srgbClr val="214363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0" y="0"/>
              <a:ext cx="406500" cy="406500"/>
            </a:xfrm>
            <a:prstGeom prst="rect">
              <a:avLst/>
            </a:prstGeom>
            <a:solidFill>
              <a:srgbClr val="00274C">
                <a:alpha val="2471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800100" y="0"/>
              <a:ext cx="406500" cy="406500"/>
            </a:xfrm>
            <a:prstGeom prst="rect">
              <a:avLst/>
            </a:prstGeom>
            <a:solidFill>
              <a:srgbClr val="00B0F0">
                <a:alpha val="4980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t/>
              </a:r>
              <a:endParaRPr b="0" i="0" sz="2000" u="none" cap="none" strike="noStrike">
                <a:solidFill>
                  <a:srgbClr val="4545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454546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